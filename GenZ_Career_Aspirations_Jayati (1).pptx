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75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76" r:id="rId16"/>
    <p:sldId id="269" r:id="rId17"/>
    <p:sldId id="270" r:id="rId18"/>
    <p:sldId id="277" r:id="rId19"/>
    <p:sldId id="278" r:id="rId20"/>
    <p:sldId id="272" r:id="rId21"/>
    <p:sldId id="273" r:id="rId22"/>
    <p:sldId id="274" r:id="rId2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20" d="100"/>
          <a:sy n="120" d="100"/>
        </p:scale>
        <p:origin x="37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Responses</c:v>
                </c:pt>
              </c:strCache>
            </c:strRef>
          </c:tx>
          <c:spPr>
            <a:solidFill>
              <a:srgbClr val="1B3A6B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B3A6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4756-4232-8857-7CE404EC04B1}"/>
              </c:ext>
            </c:extLst>
          </c:dPt>
          <c:dPt>
            <c:idx val="1"/>
            <c:invertIfNegative val="0"/>
            <c:bubble3D val="0"/>
            <c:spPr>
              <a:solidFill>
                <a:srgbClr val="2563E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756-4232-8857-7CE404EC04B1}"/>
              </c:ext>
            </c:extLst>
          </c:dPt>
          <c:dPt>
            <c:idx val="2"/>
            <c:invertIfNegative val="0"/>
            <c:bubble3D val="0"/>
            <c:spPr>
              <a:solidFill>
                <a:srgbClr val="3B82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756-4232-8857-7CE404EC04B1}"/>
              </c:ext>
            </c:extLst>
          </c:dPt>
          <c:dPt>
            <c:idx val="3"/>
            <c:invertIfNegative val="0"/>
            <c:bubble3D val="0"/>
            <c:spPr>
              <a:solidFill>
                <a:srgbClr val="60A5F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4756-4232-8857-7CE404EC04B1}"/>
              </c:ext>
            </c:extLst>
          </c:dPt>
          <c:dPt>
            <c:idx val="4"/>
            <c:invertIfNegative val="0"/>
            <c:bubble3D val="0"/>
            <c:spPr>
              <a:solidFill>
                <a:srgbClr val="93C5F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4756-4232-8857-7CE404EC04B1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Design &amp; Creative</c:v>
                </c:pt>
                <c:pt idx="1">
                  <c:v>Data Analyst</c:v>
                </c:pt>
                <c:pt idx="2">
                  <c:v>Business Ops</c:v>
                </c:pt>
                <c:pt idx="3">
                  <c:v>Team Development</c:v>
                </c:pt>
                <c:pt idx="4">
                  <c:v>Entrepreneurship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430</c:v>
                </c:pt>
                <c:pt idx="1">
                  <c:v>380</c:v>
                </c:pt>
                <c:pt idx="2">
                  <c:v>340</c:v>
                </c:pt>
                <c:pt idx="3">
                  <c:v>290</c:v>
                </c:pt>
                <c:pt idx="4">
                  <c:v>250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4756-4232-8857-7CE404EC04B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Responses</c:v>
                </c:pt>
              </c:strCache>
            </c:strRef>
          </c:tx>
          <c:spPr>
            <a:solidFill>
              <a:srgbClr val="1B3A6B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B3A6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1714-401B-B7FB-E38024642DDA}"/>
              </c:ext>
            </c:extLst>
          </c:dPt>
          <c:dPt>
            <c:idx val="1"/>
            <c:invertIfNegative val="0"/>
            <c:bubble3D val="0"/>
            <c:spPr>
              <a:solidFill>
                <a:srgbClr val="2563E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714-401B-B7FB-E38024642DDA}"/>
              </c:ext>
            </c:extLst>
          </c:dPt>
          <c:dPt>
            <c:idx val="2"/>
            <c:invertIfNegative val="0"/>
            <c:bubble3D val="0"/>
            <c:spPr>
              <a:solidFill>
                <a:srgbClr val="3B82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714-401B-B7FB-E38024642DDA}"/>
              </c:ext>
            </c:extLst>
          </c:dPt>
          <c:dPt>
            <c:idx val="3"/>
            <c:invertIfNegative val="0"/>
            <c:bubble3D val="0"/>
            <c:spPr>
              <a:solidFill>
                <a:srgbClr val="60A5F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1714-401B-B7FB-E38024642DDA}"/>
              </c:ext>
            </c:extLst>
          </c:dPt>
          <c:dPt>
            <c:idx val="4"/>
            <c:invertIfNegative val="0"/>
            <c:bubble3D val="0"/>
            <c:spPr>
              <a:solidFill>
                <a:srgbClr val="93C5F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1714-401B-B7FB-E38024642DDA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Parents</c:v>
                </c:pt>
                <c:pt idx="1">
                  <c:v>World Leaders</c:v>
                </c:pt>
                <c:pt idx="2">
                  <c:v>Popular Influencers</c:v>
                </c:pt>
                <c:pt idx="3">
                  <c:v>Acquaintances</c:v>
                </c:pt>
                <c:pt idx="4">
                  <c:v>Social Media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449</c:v>
                </c:pt>
                <c:pt idx="1">
                  <c:v>279</c:v>
                </c:pt>
                <c:pt idx="2">
                  <c:v>228</c:v>
                </c:pt>
                <c:pt idx="3">
                  <c:v>191</c:v>
                </c:pt>
                <c:pt idx="4">
                  <c:v>107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1714-401B-B7FB-E38024642DD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Preference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B3A6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E8A9-4107-8A05-7B3A00749C75}"/>
              </c:ext>
            </c:extLst>
          </c:dPt>
          <c:dPt>
            <c:idx val="1"/>
            <c:bubble3D val="0"/>
            <c:spPr>
              <a:solidFill>
                <a:srgbClr val="3B82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8A9-4107-8A05-7B3A00749C75}"/>
              </c:ext>
            </c:extLst>
          </c:dPt>
          <c:dPt>
            <c:idx val="2"/>
            <c:bubble3D val="0"/>
            <c:spPr>
              <a:solidFill>
                <a:srgbClr val="93C5F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8A9-4107-8A05-7B3A00749C75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8A9-4107-8A05-7B3A00749C75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8A9-4107-8A05-7B3A00749C75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E8A9-4107-8A05-7B3A00749C75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Hybrid</c:v>
                </c:pt>
                <c:pt idx="1">
                  <c:v>Remote</c:v>
                </c:pt>
                <c:pt idx="2">
                  <c:v>Office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46</c:v>
                </c:pt>
                <c:pt idx="1">
                  <c:v>34</c:v>
                </c:pt>
                <c:pt idx="2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E8A9-4107-8A05-7B3A00749C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Responses</c:v>
                </c:pt>
              </c:strCache>
            </c:strRef>
          </c:tx>
          <c:spPr>
            <a:solidFill>
              <a:srgbClr val="1B3A6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&gt;50k</c:v>
                </c:pt>
                <c:pt idx="1">
                  <c:v>41-50k</c:v>
                </c:pt>
                <c:pt idx="2">
                  <c:v>31-40k</c:v>
                </c:pt>
                <c:pt idx="3">
                  <c:v>26-30k</c:v>
                </c:pt>
                <c:pt idx="4">
                  <c:v>21-25k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863</c:v>
                </c:pt>
                <c:pt idx="1">
                  <c:v>588</c:v>
                </c:pt>
                <c:pt idx="2">
                  <c:v>528</c:v>
                </c:pt>
                <c:pt idx="3">
                  <c:v>422</c:v>
                </c:pt>
                <c:pt idx="4">
                  <c:v>307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EB3-4959-B29B-5B1700318A1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1B3A6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7E2-4F6E-9969-15A248BE0D2E}"/>
              </c:ext>
            </c:extLst>
          </c:dPt>
          <c:dPt>
            <c:idx val="1"/>
            <c:invertIfNegative val="0"/>
            <c:bubble3D val="0"/>
            <c:spPr>
              <a:solidFill>
                <a:srgbClr val="3B82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7E2-4F6E-9969-15A248BE0D2E}"/>
              </c:ext>
            </c:extLst>
          </c:dPt>
          <c:dPt>
            <c:idx val="2"/>
            <c:invertIfNegative val="0"/>
            <c:bubble3D val="0"/>
            <c:spPr>
              <a:solidFill>
                <a:srgbClr val="93C5F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7E2-4F6E-9969-15A248BE0D2E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Low (1-4)</c:v>
                </c:pt>
                <c:pt idx="1">
                  <c:v>Medium (5-7)</c:v>
                </c:pt>
                <c:pt idx="2">
                  <c:v>High (8-10)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520</c:v>
                </c:pt>
                <c:pt idx="1">
                  <c:v>1680</c:v>
                </c:pt>
                <c:pt idx="2">
                  <c:v>1411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F7E2-4F6E-9969-15A248BE0D2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24924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5.xml"/><Relationship Id="rId4" Type="http://schemas.openxmlformats.org/officeDocument/2006/relationships/chart" Target="../charts/char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772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Understanding Career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548640" y="15087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93C5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Aspirations of Gen-Z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548640" y="3017520"/>
            <a:ext cx="320040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036531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Jayati Singh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4160520"/>
            <a:ext cx="2468880" cy="777240"/>
          </a:xfrm>
          <a:prstGeom prst="roundRect">
            <a:avLst>
              <a:gd name="adj" fmla="val 11765"/>
            </a:avLst>
          </a:prstGeom>
          <a:solidFill>
            <a:srgbClr val="1E40A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418795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3,611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48640" y="45537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Responses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83280" y="4160520"/>
            <a:ext cx="2468880" cy="777240"/>
          </a:xfrm>
          <a:prstGeom prst="roundRect">
            <a:avLst>
              <a:gd name="adj" fmla="val 11765"/>
            </a:avLst>
          </a:prstGeom>
          <a:solidFill>
            <a:srgbClr val="1E40A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418795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383280" y="45537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17920" y="4160520"/>
            <a:ext cx="2468880" cy="777240"/>
          </a:xfrm>
          <a:prstGeom prst="roundRect">
            <a:avLst>
              <a:gd name="adj" fmla="val 11765"/>
            </a:avLst>
          </a:prstGeom>
          <a:solidFill>
            <a:srgbClr val="1E40A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418795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5W1H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217920" y="45537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Used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Roadmap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Milestones from Problem Statement to Final Presentation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266925"/>
            <a:ext cx="256032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431517"/>
            <a:ext cx="502920" cy="50292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49805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1522957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1266925"/>
            <a:ext cx="256032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37560" y="1431517"/>
            <a:ext cx="502920" cy="50292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1449805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931920" y="1522957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Ratings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1266925"/>
            <a:ext cx="256032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72200" y="1431517"/>
            <a:ext cx="502920" cy="50292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72200" y="1449805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766560" y="1522957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2501365"/>
            <a:ext cx="256032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02920" y="2665957"/>
            <a:ext cx="502920" cy="50292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684245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97280" y="2757397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0" y="2501365"/>
            <a:ext cx="256032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337560" y="2665957"/>
            <a:ext cx="502920" cy="50292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2684245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931920" y="2757397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035040" y="2501365"/>
            <a:ext cx="256032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72200" y="2665957"/>
            <a:ext cx="502920" cy="50292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72200" y="2684245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766560" y="2757397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Analysis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65760" y="3735805"/>
            <a:ext cx="256032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02920" y="3900397"/>
            <a:ext cx="502920" cy="50292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3918685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097280" y="3991837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Dashboard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200400" y="3735805"/>
            <a:ext cx="256032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337560" y="3900397"/>
            <a:ext cx="502920" cy="50292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37560" y="3918685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3931920" y="3991837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035040" y="3735805"/>
            <a:ext cx="256032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172200" y="3900397"/>
            <a:ext cx="502920" cy="50292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72200" y="3918685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766560" y="3991837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1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196596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Documentation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310896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Gen-Z career crisis using the 5W1H Framework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— 5W1H Framework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What, Why, Who, When, Where, How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41697" y="1289304"/>
            <a:ext cx="265176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78857" y="1426464"/>
            <a:ext cx="685800" cy="347472"/>
          </a:xfrm>
          <a:prstGeom prst="roundRect">
            <a:avLst>
              <a:gd name="adj" fmla="val 15789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8857" y="1435608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6289" y="1856232"/>
            <a:ext cx="23317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between what Gen-Z expects from jobs and what employers actually offer.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22057" y="1289304"/>
            <a:ext cx="265176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59217" y="1426464"/>
            <a:ext cx="685800" cy="347472"/>
          </a:xfrm>
          <a:prstGeom prst="roundRect">
            <a:avLst>
              <a:gd name="adj" fmla="val 15789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59217" y="1435608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86649" y="1856232"/>
            <a:ext cx="23317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creates unrealistic expectations; workplaces still follow traditional practices.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02417" y="1289304"/>
            <a:ext cx="265176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39577" y="1426464"/>
            <a:ext cx="685800" cy="347472"/>
          </a:xfrm>
          <a:prstGeom prst="roundRect">
            <a:avLst>
              <a:gd name="adj" fmla="val 15789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39577" y="1435608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67009" y="1856232"/>
            <a:ext cx="23317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Gen-Z employees, employers, HR professionals, and business stakeholders.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41697" y="3072384"/>
            <a:ext cx="265176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8857" y="3209544"/>
            <a:ext cx="685800" cy="347472"/>
          </a:xfrm>
          <a:prstGeom prst="roundRect">
            <a:avLst>
              <a:gd name="adj" fmla="val 15789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8857" y="3218688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6289" y="3639312"/>
            <a:ext cx="23317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starts within first few months of employment, worsened post-COVID.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22057" y="3072384"/>
            <a:ext cx="265176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359217" y="3209544"/>
            <a:ext cx="685800" cy="347472"/>
          </a:xfrm>
          <a:prstGeom prst="roundRect">
            <a:avLst>
              <a:gd name="adj" fmla="val 15789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59217" y="3218688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386649" y="3639312"/>
            <a:ext cx="23317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visible in IT, Banking, BPO sectors and large corporates globally.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02417" y="3072384"/>
            <a:ext cx="265176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39577" y="3209544"/>
            <a:ext cx="685800" cy="347472"/>
          </a:xfrm>
          <a:prstGeom prst="roundRect">
            <a:avLst>
              <a:gd name="adj" fmla="val 15789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39577" y="3218688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67009" y="3639312"/>
            <a:ext cx="23317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work, regular feedback, growth opportunities, and open communication.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38"/>
            <a:ext cx="9144000" cy="107899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5716"/>
            <a:ext cx="8366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Milestone 2 &amp; 3 — Platform Ratings &amp; Data Collection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62253" y="539255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Contributing feedback + Collecting Gen-Z survey data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280160"/>
            <a:ext cx="393192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36005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Milestone 2 — Platform Ratings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6916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Contributed ratings and reviews to KultureHire's learning platform as part of the learnternship experience.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2468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Content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377440" y="2523744"/>
            <a:ext cx="219456" cy="21945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70048" y="2523744"/>
            <a:ext cx="219456" cy="21945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62656" y="2523744"/>
            <a:ext cx="219456" cy="21945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55264" y="2523744"/>
            <a:ext cx="219456" cy="21945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47872" y="2523744"/>
            <a:ext cx="219456" cy="219456"/>
          </a:xfrm>
          <a:prstGeom prst="ellipse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063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Support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377440" y="3118104"/>
            <a:ext cx="219456" cy="21945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670048" y="3118104"/>
            <a:ext cx="219456" cy="21945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962656" y="3118104"/>
            <a:ext cx="219456" cy="21945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55264" y="3118104"/>
            <a:ext cx="219456" cy="21945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47872" y="3118104"/>
            <a:ext cx="219456" cy="21945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657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UX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377440" y="3712464"/>
            <a:ext cx="219456" cy="21945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70048" y="3712464"/>
            <a:ext cx="219456" cy="21945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62656" y="3712464"/>
            <a:ext cx="219456" cy="21945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55264" y="3712464"/>
            <a:ext cx="219456" cy="21945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547872" y="3712464"/>
            <a:ext cx="219456" cy="219456"/>
          </a:xfrm>
          <a:prstGeom prst="ellipse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480560" y="1280160"/>
            <a:ext cx="434340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663440" y="1362697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Milestone 3 — Data Collection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663440" y="169164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a Google Form to collect Gen-Z career aspiration data. Survey was shared via LinkedIn and social media.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663440" y="2423160"/>
            <a:ext cx="1234440" cy="1371600"/>
          </a:xfrm>
          <a:prstGeom prst="roundRect">
            <a:avLst>
              <a:gd name="adj" fmla="val 8889"/>
            </a:avLst>
          </a:prstGeom>
          <a:solidFill>
            <a:srgbClr val="DBEAFE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663440" y="25146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3,611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4663440" y="301752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Responses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080760" y="2423160"/>
            <a:ext cx="1234440" cy="1371600"/>
          </a:xfrm>
          <a:prstGeom prst="roundRect">
            <a:avLst>
              <a:gd name="adj" fmla="val 8889"/>
            </a:avLst>
          </a:prstGeom>
          <a:solidFill>
            <a:srgbClr val="DBEAFE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080760" y="25146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India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080760" y="301752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Country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498080" y="2423160"/>
            <a:ext cx="1234440" cy="1371600"/>
          </a:xfrm>
          <a:prstGeom prst="roundRect">
            <a:avLst>
              <a:gd name="adj" fmla="val 8889"/>
            </a:avLst>
          </a:prstGeom>
          <a:solidFill>
            <a:srgbClr val="DBEAFE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7498080" y="25146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7498080" y="301752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Questions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663440" y="397764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covered: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aspirations, work environment, salary expectations, social impact values, manager preferences, and more.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8803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Milestone 3 — Data Collection using Survey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7607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screens from the 19-question Google Form used to collect Gen-Z responses</a:t>
            </a:r>
            <a:endParaRPr lang="en-US" sz="1200" dirty="0"/>
          </a:p>
        </p:txBody>
      </p:sp>
      <p:sp>
        <p:nvSpPr>
          <p:cNvPr id="5" name="Card 1"/>
          <p:cNvSpPr/>
          <p:nvPr/>
        </p:nvSpPr>
        <p:spPr>
          <a:xfrm>
            <a:off x="320040" y="1317458"/>
            <a:ext cx="2712720" cy="36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Caption 1"/>
          <p:cNvSpPr/>
          <p:nvPr/>
        </p:nvSpPr>
        <p:spPr>
          <a:xfrm>
            <a:off x="450040" y="1447458"/>
            <a:ext cx="245272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Survey Introduction</a:t>
            </a:r>
            <a:endParaRPr lang="en-US" sz="1300" dirty="0"/>
          </a:p>
        </p:txBody>
      </p:sp>
      <p:pic>
        <p:nvPicPr>
          <p:cNvPr id="7" name="Survey Image 1" descr="Google Form introduction page screensho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40" y="2118524"/>
            <a:ext cx="2452720" cy="2477868"/>
          </a:xfrm>
          <a:prstGeom prst="rect">
            <a:avLst/>
          </a:prstGeom>
          <a:ln w="6350">
            <a:solidFill>
              <a:srgbClr val="E2E8F0"/>
            </a:solidFill>
          </a:ln>
        </p:spPr>
      </p:pic>
      <p:sp>
        <p:nvSpPr>
          <p:cNvPr id="8" name="Card 2"/>
          <p:cNvSpPr/>
          <p:nvPr/>
        </p:nvSpPr>
        <p:spPr>
          <a:xfrm>
            <a:off x="3215640" y="1317458"/>
            <a:ext cx="2712720" cy="36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Caption 2"/>
          <p:cNvSpPr/>
          <p:nvPr/>
        </p:nvSpPr>
        <p:spPr>
          <a:xfrm>
            <a:off x="3345640" y="1447458"/>
            <a:ext cx="245272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Workplace Expectations</a:t>
            </a:r>
            <a:endParaRPr lang="en-US" sz="1300" dirty="0"/>
          </a:p>
        </p:txBody>
      </p:sp>
      <p:pic>
        <p:nvPicPr>
          <p:cNvPr id="10" name="Survey Image 2" descr="Workplace benefits and mental health support question 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5640" y="2334889"/>
            <a:ext cx="2452720" cy="2045138"/>
          </a:xfrm>
          <a:prstGeom prst="rect">
            <a:avLst/>
          </a:prstGeom>
          <a:ln w="6350">
            <a:solidFill>
              <a:srgbClr val="E2E8F0"/>
            </a:solidFill>
          </a:ln>
        </p:spPr>
      </p:pic>
      <p:sp>
        <p:nvSpPr>
          <p:cNvPr id="11" name="Card 3"/>
          <p:cNvSpPr/>
          <p:nvPr/>
        </p:nvSpPr>
        <p:spPr>
          <a:xfrm>
            <a:off x="6111240" y="1317458"/>
            <a:ext cx="2712720" cy="36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Caption 3"/>
          <p:cNvSpPr/>
          <p:nvPr/>
        </p:nvSpPr>
        <p:spPr>
          <a:xfrm>
            <a:off x="6241240" y="1447458"/>
            <a:ext cx="245272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Salary &amp; Work Setup</a:t>
            </a:r>
            <a:endParaRPr lang="en-US" sz="1300" dirty="0"/>
          </a:p>
        </p:txBody>
      </p:sp>
      <p:pic>
        <p:nvPicPr>
          <p:cNvPr id="13" name="Survey Image 3" descr="Salary expectation and work arrangement question screensho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1240" y="2447458"/>
            <a:ext cx="2452720" cy="1860280"/>
          </a:xfrm>
          <a:prstGeom prst="rect">
            <a:avLst/>
          </a:prstGeom>
          <a:ln w="6350">
            <a:solidFill>
              <a:srgbClr val="E2E8F0"/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"/>
            <a:ext cx="9144000" cy="1039289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51357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Milestone 4 — Data Cleaning &amp; Standardisation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71981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Preparing raw survey data for analysis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377616"/>
            <a:ext cx="265176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84632" y="154220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84632" y="1944544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Duplicates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4632" y="2292016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and removed duplicate timestamp entries to ensure data integrity.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1377616"/>
            <a:ext cx="265176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64992" y="154220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364992" y="1944544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Handled Missing Values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64992" y="2292016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 cells in key columns were handled by filling or removing incomplete records.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80760" y="1377616"/>
            <a:ext cx="265176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45352" y="154220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245352" y="1944544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Standardised Text Values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45352" y="2292016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text values (e.g. 'M', 'Male', 'male') were standardised to a single format.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3160696"/>
            <a:ext cx="265176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4632" y="332528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84632" y="3727624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Data Types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632" y="4075096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like Pin/Zip Code and Importance of Social Impact were converted to correct numeric types.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0" y="3160696"/>
            <a:ext cx="265176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364992" y="332528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364992" y="3727624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Column Names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64992" y="4075096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Spaces and special characters in column headers were cleaned for easier SQL and Power BI use.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080760" y="3160696"/>
            <a:ext cx="265176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245352" y="332528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245352" y="3727624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Validated Dataset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45352" y="4075096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3,611 clean rows and 19 columns — ready for EDA and SQL analysis.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5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196596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Data Analysis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310896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Answering 5 business questions using pivot tables and charts in Excel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2488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— Career Aspirations &amp; Influencing Factors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1 &amp; 2 | India respondents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393192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35331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Q1: Most Popular Career Aspirations</a:t>
            </a:r>
            <a:endParaRPr lang="en-US" sz="1200" dirty="0"/>
          </a:p>
        </p:txBody>
      </p:sp>
      <p:graphicFrame>
        <p:nvGraphicFramePr>
          <p:cNvPr id="7" name="Chart 0"/>
          <p:cNvGraphicFramePr/>
          <p:nvPr>
            <p:extLst>
              <p:ext uri="{D42A27DB-BD31-4B8C-83A1-F6EECF244321}">
                <p14:modId xmlns:p14="http://schemas.microsoft.com/office/powerpoint/2010/main" val="2917947783"/>
              </p:ext>
            </p:extLst>
          </p:nvPr>
        </p:nvGraphicFramePr>
        <p:xfrm>
          <a:off x="347472" y="1783080"/>
          <a:ext cx="384048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4480560" y="1234440"/>
            <a:ext cx="434340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663440" y="135331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Q2: Top Influencing Factors</a:t>
            </a:r>
            <a:endParaRPr lang="en-US" sz="1200" dirty="0"/>
          </a:p>
        </p:txBody>
      </p:sp>
      <p:graphicFrame>
        <p:nvGraphicFramePr>
          <p:cNvPr id="10" name="Chart 1"/>
          <p:cNvGraphicFramePr/>
          <p:nvPr>
            <p:extLst>
              <p:ext uri="{D42A27DB-BD31-4B8C-83A1-F6EECF244321}">
                <p14:modId xmlns:p14="http://schemas.microsoft.com/office/powerpoint/2010/main" val="472787137"/>
              </p:ext>
            </p:extLst>
          </p:nvPr>
        </p:nvGraphicFramePr>
        <p:xfrm>
          <a:off x="4498848" y="1783080"/>
          <a:ext cx="425196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"/>
            <a:ext cx="9144000" cy="1073457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16945"/>
            <a:ext cx="76941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— Work Environment, Salary &amp; Social Impact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3, 4 &amp; 5 | India respondents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299411"/>
            <a:ext cx="2651760" cy="35661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390851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Q3: Work Environment</a:t>
            </a:r>
            <a:endParaRPr lang="en-US" sz="1100" dirty="0"/>
          </a:p>
        </p:txBody>
      </p:sp>
      <p:graphicFrame>
        <p:nvGraphicFramePr>
          <p:cNvPr id="7" name="Chart 0"/>
          <p:cNvGraphicFramePr/>
          <p:nvPr>
            <p:extLst>
              <p:ext uri="{D42A27DB-BD31-4B8C-83A1-F6EECF244321}">
                <p14:modId xmlns:p14="http://schemas.microsoft.com/office/powerpoint/2010/main" val="258756190"/>
              </p:ext>
            </p:extLst>
          </p:nvPr>
        </p:nvGraphicFramePr>
        <p:xfrm>
          <a:off x="320040" y="1784043"/>
          <a:ext cx="265176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4316931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is the top preference (46%)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154680" y="1299411"/>
            <a:ext cx="2651760" cy="35661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291840" y="1390851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Q4: Salary Expectations (3 yrs)</a:t>
            </a:r>
            <a:endParaRPr lang="en-US" sz="1100" dirty="0"/>
          </a:p>
        </p:txBody>
      </p:sp>
      <p:graphicFrame>
        <p:nvGraphicFramePr>
          <p:cNvPr id="11" name="Chart 1"/>
          <p:cNvGraphicFramePr/>
          <p:nvPr>
            <p:extLst>
              <p:ext uri="{D42A27DB-BD31-4B8C-83A1-F6EECF244321}">
                <p14:modId xmlns:p14="http://schemas.microsoft.com/office/powerpoint/2010/main" val="2636291273"/>
              </p:ext>
            </p:extLst>
          </p:nvPr>
        </p:nvGraphicFramePr>
        <p:xfrm>
          <a:off x="3154680" y="1784043"/>
          <a:ext cx="265176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2" name="Text 8"/>
          <p:cNvSpPr/>
          <p:nvPr/>
        </p:nvSpPr>
        <p:spPr>
          <a:xfrm>
            <a:off x="3291840" y="4316931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29% expect above ₹50k within 3 years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5989320" y="1299411"/>
            <a:ext cx="2834640" cy="356616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6126480" y="1390851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Q5: Social Impact Rating</a:t>
            </a:r>
            <a:endParaRPr lang="en-US" sz="1100" dirty="0"/>
          </a:p>
        </p:txBody>
      </p:sp>
      <p:graphicFrame>
        <p:nvGraphicFramePr>
          <p:cNvPr id="15" name="Chart 2"/>
          <p:cNvGraphicFramePr/>
          <p:nvPr>
            <p:extLst>
              <p:ext uri="{D42A27DB-BD31-4B8C-83A1-F6EECF244321}">
                <p14:modId xmlns:p14="http://schemas.microsoft.com/office/powerpoint/2010/main" val="1638178088"/>
              </p:ext>
            </p:extLst>
          </p:nvPr>
        </p:nvGraphicFramePr>
        <p:xfrm>
          <a:off x="5989320" y="1784043"/>
          <a:ext cx="278892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6" name="Text 11"/>
          <p:cNvSpPr/>
          <p:nvPr/>
        </p:nvSpPr>
        <p:spPr>
          <a:xfrm>
            <a:off x="6126480" y="4316931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73.7% do not require a clear mission statement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6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196596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Analysis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310896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Answering 5 deep-dive business questions using MySQL queries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Jayati Singh  ·  KultureHire Learnternship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1506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Milestone 6 — SQL Analysis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1816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Business Questions Answered Using MySQL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850392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71016"/>
            <a:ext cx="502920" cy="347472"/>
          </a:xfrm>
          <a:prstGeom prst="roundRect">
            <a:avLst>
              <a:gd name="adj" fmla="val 15789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71016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97280" y="121615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industries/careers is Gen-Z most interested in?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307592"/>
            <a:ext cx="0" cy="32004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21615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Creative Strategy ranked #1, followed by Data Analyst and Business Operations.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1892808"/>
            <a:ext cx="850392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020824"/>
            <a:ext cx="502920" cy="347472"/>
          </a:xfrm>
          <a:prstGeom prst="roundRect">
            <a:avLst>
              <a:gd name="adj" fmla="val 15789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020824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97280" y="196596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the top factors influencing Gen-Z career choices?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2057400"/>
            <a:ext cx="0" cy="32004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196596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 are the #1 influence, followed by World Leaders and Popular Influencers.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" y="2642616"/>
            <a:ext cx="850392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2770632"/>
            <a:ext cx="502920" cy="347472"/>
          </a:xfrm>
          <a:prstGeom prst="roundRect">
            <a:avLst>
              <a:gd name="adj" fmla="val 15789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77063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97280" y="271576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desired work environment for Gen-Z?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2807208"/>
            <a:ext cx="0" cy="32004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271576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work dominates — especially setups with more than 15 office days per month.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20040" y="3392424"/>
            <a:ext cx="850392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3520440"/>
            <a:ext cx="502920" cy="347472"/>
          </a:xfrm>
          <a:prstGeom prst="roundRect">
            <a:avLst>
              <a:gd name="adj" fmla="val 15789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52044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97280" y="3465576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salary expectations impact career choices?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54880" y="3557016"/>
            <a:ext cx="0" cy="32004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3465576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~30% expect over ₹50k in 3 years. High salary roles (Design, Data, Business Ops) are most sought.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20040" y="4142232"/>
            <a:ext cx="850392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7200" y="4270248"/>
            <a:ext cx="502920" cy="347472"/>
          </a:xfrm>
          <a:prstGeom prst="roundRect">
            <a:avLst>
              <a:gd name="adj" fmla="val 15789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27024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97280" y="4215384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role does social impact play in career choices?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754880" y="4306824"/>
            <a:ext cx="0" cy="32004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92040" y="4215384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impact is moderately valued. Most rate it 5/10 — but 78% feel companies' actions don't match their stated missions.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7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196596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Excel Dashboard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310896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an executive-level dashboard using pivot tables and charts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23444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Milestone 7 — Executive Excel Dashboard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2578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business questions visualised using Pivot Tables &amp; Charts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159764"/>
            <a:ext cx="393192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27406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Was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479804"/>
            <a:ext cx="36804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Industry/career preferences among Indian Gen-Z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factors influencing career decisions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Preferred work environment and team setup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expectations at 3-year experience mark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of social impact values in career choices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Gender-based slicer for all charts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80560" y="1159764"/>
            <a:ext cx="434340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63440" y="125120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Highlights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1754124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166360" y="17541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Tables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166360" y="200101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summarise and filter data by multiple dimensions.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663440" y="2485644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🔢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166360" y="248564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Questions Answered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166360" y="273253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question has a dedicated chart with clear labels.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663440" y="3217164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🎛️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166360" y="321716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Slicer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166360" y="346405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slicer filters all visuals simultaneously.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663440" y="3948684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⏱️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166360" y="394868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Took ~2 Days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66360" y="419557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manual process compared to Power BI.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712"/>
            <a:ext cx="800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Milestone 7 — Excel Dashboard Charts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3917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chart visuals from the executive Excel dashboard</a:t>
            </a:r>
            <a:endParaRPr lang="en-US" sz="1200" dirty="0"/>
          </a:p>
        </p:txBody>
      </p:sp>
      <p:sp>
        <p:nvSpPr>
          <p:cNvPr id="20" name="Card"/>
          <p:cNvSpPr/>
          <p:nvPr/>
        </p:nvSpPr>
        <p:spPr>
          <a:xfrm>
            <a:off x="320040" y="1143000"/>
            <a:ext cx="2712720" cy="1799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Caption"/>
          <p:cNvSpPr/>
          <p:nvPr/>
        </p:nvSpPr>
        <p:spPr>
          <a:xfrm>
            <a:off x="420040" y="1243000"/>
            <a:ext cx="251272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Mission-Action Alignment</a:t>
            </a:r>
            <a:endParaRPr lang="en-US" sz="1100" dirty="0"/>
          </a:p>
        </p:txBody>
      </p:sp>
      <p:pic>
        <p:nvPicPr>
          <p:cNvPr id="22" name="Im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059" y="1453240"/>
            <a:ext cx="2294681" cy="1359520"/>
          </a:xfrm>
          <a:prstGeom prst="rect">
            <a:avLst/>
          </a:prstGeom>
        </p:spPr>
      </p:pic>
      <p:sp>
        <p:nvSpPr>
          <p:cNvPr id="23" name="Card"/>
          <p:cNvSpPr/>
          <p:nvPr/>
        </p:nvSpPr>
        <p:spPr>
          <a:xfrm>
            <a:off x="3215640" y="1143000"/>
            <a:ext cx="2712720" cy="1799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Caption"/>
          <p:cNvSpPr/>
          <p:nvPr/>
        </p:nvSpPr>
        <p:spPr>
          <a:xfrm>
            <a:off x="3315640" y="1243000"/>
            <a:ext cx="251272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Preferred Setup: M vs F</a:t>
            </a:r>
            <a:endParaRPr lang="en-US" sz="1100" dirty="0"/>
          </a:p>
        </p:txBody>
      </p:sp>
      <p:pic>
        <p:nvPicPr>
          <p:cNvPr id="25" name="Img"/>
          <p:cNvPicPr>
            <a:picLocks noChangeAspect="1"/>
          </p:cNvPicPr>
          <p:nvPr/>
        </p:nvPicPr>
        <p:blipFill>
          <a:blip r:embed="rId3"/>
          <a:srcRect l="6351"/>
          <a:stretch>
            <a:fillRect/>
          </a:stretch>
        </p:blipFill>
        <p:spPr>
          <a:xfrm>
            <a:off x="4137660" y="1503000"/>
            <a:ext cx="931879" cy="1359520"/>
          </a:xfrm>
          <a:prstGeom prst="rect">
            <a:avLst/>
          </a:prstGeom>
        </p:spPr>
      </p:pic>
      <p:sp>
        <p:nvSpPr>
          <p:cNvPr id="26" name="Card"/>
          <p:cNvSpPr/>
          <p:nvPr/>
        </p:nvSpPr>
        <p:spPr>
          <a:xfrm>
            <a:off x="6111240" y="1143000"/>
            <a:ext cx="2712720" cy="1799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Caption"/>
          <p:cNvSpPr/>
          <p:nvPr/>
        </p:nvSpPr>
        <p:spPr>
          <a:xfrm>
            <a:off x="6211240" y="1243000"/>
            <a:ext cx="251272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Overall Work Env. Preference</a:t>
            </a:r>
            <a:endParaRPr lang="en-US" sz="1100" dirty="0"/>
          </a:p>
        </p:txBody>
      </p:sp>
      <p:pic>
        <p:nvPicPr>
          <p:cNvPr id="28" name="Img"/>
          <p:cNvPicPr>
            <a:picLocks noChangeAspect="1"/>
          </p:cNvPicPr>
          <p:nvPr/>
        </p:nvPicPr>
        <p:blipFill>
          <a:blip r:embed="rId4"/>
          <a:srcRect l="4438" r="3659"/>
          <a:stretch>
            <a:fillRect/>
          </a:stretch>
        </p:blipFill>
        <p:spPr>
          <a:xfrm>
            <a:off x="6568440" y="1503000"/>
            <a:ext cx="1798320" cy="1359520"/>
          </a:xfrm>
          <a:prstGeom prst="rect">
            <a:avLst/>
          </a:prstGeom>
        </p:spPr>
      </p:pic>
      <p:sp>
        <p:nvSpPr>
          <p:cNvPr id="29" name="Card"/>
          <p:cNvSpPr/>
          <p:nvPr/>
        </p:nvSpPr>
        <p:spPr>
          <a:xfrm>
            <a:off x="320040" y="3092520"/>
            <a:ext cx="2712720" cy="1799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Caption"/>
          <p:cNvSpPr/>
          <p:nvPr/>
        </p:nvSpPr>
        <p:spPr>
          <a:xfrm>
            <a:off x="420040" y="3192520"/>
            <a:ext cx="251272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Overall Preferred Work Setup</a:t>
            </a:r>
            <a:endParaRPr lang="en-US" sz="1100" dirty="0"/>
          </a:p>
        </p:txBody>
      </p:sp>
      <p:pic>
        <p:nvPicPr>
          <p:cNvPr id="31" name="Im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403" y="3452520"/>
            <a:ext cx="2443992" cy="1359520"/>
          </a:xfrm>
          <a:prstGeom prst="rect">
            <a:avLst/>
          </a:prstGeom>
        </p:spPr>
      </p:pic>
      <p:sp>
        <p:nvSpPr>
          <p:cNvPr id="32" name="Card"/>
          <p:cNvSpPr/>
          <p:nvPr/>
        </p:nvSpPr>
        <p:spPr>
          <a:xfrm>
            <a:off x="3215640" y="3092520"/>
            <a:ext cx="2712720" cy="1799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Caption"/>
          <p:cNvSpPr/>
          <p:nvPr/>
        </p:nvSpPr>
        <p:spPr>
          <a:xfrm>
            <a:off x="3315640" y="3192520"/>
            <a:ext cx="251272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Need for Clear Mission</a:t>
            </a:r>
            <a:endParaRPr lang="en-US" sz="1100" dirty="0"/>
          </a:p>
        </p:txBody>
      </p:sp>
      <p:pic>
        <p:nvPicPr>
          <p:cNvPr id="34" name="Img"/>
          <p:cNvPicPr>
            <a:picLocks noChangeAspect="1"/>
          </p:cNvPicPr>
          <p:nvPr/>
        </p:nvPicPr>
        <p:blipFill>
          <a:blip r:embed="rId6"/>
          <a:srcRect t="6138"/>
          <a:stretch>
            <a:fillRect/>
          </a:stretch>
        </p:blipFill>
        <p:spPr>
          <a:xfrm>
            <a:off x="3709000" y="3532520"/>
            <a:ext cx="1725999" cy="1257300"/>
          </a:xfrm>
          <a:prstGeom prst="rect">
            <a:avLst/>
          </a:prstGeom>
        </p:spPr>
      </p:pic>
      <p:sp>
        <p:nvSpPr>
          <p:cNvPr id="35" name="Card"/>
          <p:cNvSpPr/>
          <p:nvPr/>
        </p:nvSpPr>
        <p:spPr>
          <a:xfrm>
            <a:off x="6111240" y="3092520"/>
            <a:ext cx="2712720" cy="1799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Caption"/>
          <p:cNvSpPr/>
          <p:nvPr/>
        </p:nvSpPr>
        <p:spPr>
          <a:xfrm>
            <a:off x="6211240" y="3192520"/>
            <a:ext cx="251272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 Env. Preference: M vs F</a:t>
            </a:r>
            <a:endParaRPr lang="en-US" sz="1100" dirty="0"/>
          </a:p>
        </p:txBody>
      </p:sp>
      <p:pic>
        <p:nvPicPr>
          <p:cNvPr id="37" name="Img"/>
          <p:cNvPicPr>
            <a:picLocks noChangeAspect="1"/>
          </p:cNvPicPr>
          <p:nvPr/>
        </p:nvPicPr>
        <p:blipFill>
          <a:blip r:embed="rId7"/>
          <a:srcRect l="2995" t="6512"/>
          <a:stretch>
            <a:fillRect/>
          </a:stretch>
        </p:blipFill>
        <p:spPr>
          <a:xfrm>
            <a:off x="6252137" y="3586056"/>
            <a:ext cx="2437460" cy="120376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8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196596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 Dashboards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310896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focused dashboards — Manager Aspirations &amp; Mission Aspirations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00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Milestone 8 — Power BI Functional Dashboards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Focus-Area Dashboards with KPIs, Charts, and Gender Slicer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257300"/>
            <a:ext cx="3931920" cy="361188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57300"/>
            <a:ext cx="3931920" cy="502920"/>
          </a:xfrm>
          <a:prstGeom prst="roundRect">
            <a:avLst>
              <a:gd name="adj" fmla="val 14545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0302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1 — Manager Aspirations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851660"/>
            <a:ext cx="36118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Total Participants &amp; Total Pin Codes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Preferred Manager Style (Horizontal Bar)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Environment by Gender (Clustered Bar)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3-Year Job Commitment (Bar Chart)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Preferred Work Setup (Donut Chart)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Slicer (M / F)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480560" y="1257300"/>
            <a:ext cx="4343400" cy="361188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80560" y="1257300"/>
            <a:ext cx="4343400" cy="502920"/>
          </a:xfrm>
          <a:prstGeom prst="roundRect">
            <a:avLst>
              <a:gd name="adj" fmla="val 14545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1303020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2 — Mission Aspirations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63440" y="1851660"/>
            <a:ext cx="40233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Total Participants &amp; Total Pin Codes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Mission-Action Alignment by Gender (Clustered Bar)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for Clear Mission (Horizontal Bar)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Importance of Social Impact — Grouped Chart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Education Aspiration (Donut Chart)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Slicer (M / F)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28881"/>
            <a:ext cx="800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Milestone 8 — Manager Aspirations Charts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4679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chart visuals from the Power BI Manager Aspirations dashboard</a:t>
            </a:r>
            <a:endParaRPr lang="en-US" sz="1200" dirty="0"/>
          </a:p>
        </p:txBody>
      </p:sp>
      <p:sp>
        <p:nvSpPr>
          <p:cNvPr id="20" name="Card"/>
          <p:cNvSpPr/>
          <p:nvPr/>
        </p:nvSpPr>
        <p:spPr>
          <a:xfrm>
            <a:off x="320040" y="1143000"/>
            <a:ext cx="2400000" cy="37490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Caption"/>
          <p:cNvSpPr/>
          <p:nvPr/>
        </p:nvSpPr>
        <p:spPr>
          <a:xfrm>
            <a:off x="420040" y="1243000"/>
            <a:ext cx="220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3 Work Environment by Gender</a:t>
            </a:r>
            <a:endParaRPr lang="en-US" sz="1100" dirty="0"/>
          </a:p>
        </p:txBody>
      </p:sp>
      <p:pic>
        <p:nvPicPr>
          <p:cNvPr id="22" name="Im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040" y="1669451"/>
            <a:ext cx="2200000" cy="3036137"/>
          </a:xfrm>
          <a:prstGeom prst="rect">
            <a:avLst/>
          </a:prstGeom>
        </p:spPr>
      </p:pic>
      <p:sp>
        <p:nvSpPr>
          <p:cNvPr id="23" name="Card"/>
          <p:cNvSpPr/>
          <p:nvPr/>
        </p:nvSpPr>
        <p:spPr>
          <a:xfrm>
            <a:off x="2902920" y="1143000"/>
            <a:ext cx="5921040" cy="1850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Caption"/>
          <p:cNvSpPr/>
          <p:nvPr/>
        </p:nvSpPr>
        <p:spPr>
          <a:xfrm>
            <a:off x="3002920" y="1243000"/>
            <a:ext cx="572104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Preferred Manager Style by Gender</a:t>
            </a:r>
            <a:endParaRPr lang="en-US" sz="1100" dirty="0"/>
          </a:p>
        </p:txBody>
      </p:sp>
      <p:pic>
        <p:nvPicPr>
          <p:cNvPr id="25" name="Im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2920" y="1639130"/>
            <a:ext cx="5721040" cy="1197738"/>
          </a:xfrm>
          <a:prstGeom prst="rect">
            <a:avLst/>
          </a:prstGeom>
        </p:spPr>
      </p:pic>
      <p:sp>
        <p:nvSpPr>
          <p:cNvPr id="26" name="Card"/>
          <p:cNvSpPr/>
          <p:nvPr/>
        </p:nvSpPr>
        <p:spPr>
          <a:xfrm>
            <a:off x="2902920" y="3143000"/>
            <a:ext cx="2869080" cy="17490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Caption"/>
          <p:cNvSpPr/>
          <p:nvPr/>
        </p:nvSpPr>
        <p:spPr>
          <a:xfrm>
            <a:off x="3002920" y="3243000"/>
            <a:ext cx="266908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Preferred Work Setup</a:t>
            </a:r>
            <a:endParaRPr lang="en-US" sz="1100" dirty="0"/>
          </a:p>
        </p:txBody>
      </p:sp>
      <p:pic>
        <p:nvPicPr>
          <p:cNvPr id="28" name="Im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5701" y="3583000"/>
            <a:ext cx="2143517" cy="1209040"/>
          </a:xfrm>
          <a:prstGeom prst="rect">
            <a:avLst/>
          </a:prstGeom>
        </p:spPr>
      </p:pic>
      <p:sp>
        <p:nvSpPr>
          <p:cNvPr id="29" name="Card"/>
          <p:cNvSpPr/>
          <p:nvPr/>
        </p:nvSpPr>
        <p:spPr>
          <a:xfrm>
            <a:off x="5954880" y="3143000"/>
            <a:ext cx="2869080" cy="17490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Caption"/>
          <p:cNvSpPr/>
          <p:nvPr/>
        </p:nvSpPr>
        <p:spPr>
          <a:xfrm>
            <a:off x="6054880" y="3243000"/>
            <a:ext cx="266908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3 Preferred Employer Type</a:t>
            </a:r>
            <a:endParaRPr lang="en-US" sz="1100" dirty="0"/>
          </a:p>
        </p:txBody>
      </p:sp>
      <p:pic>
        <p:nvPicPr>
          <p:cNvPr id="31" name="Im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5097" y="3583000"/>
            <a:ext cx="2008644" cy="120904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3632"/>
            <a:ext cx="800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Milestone 8 — Mission Aspirations Charts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32816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chart visuals from the Power BI Mission Aspirations dashboard</a:t>
            </a:r>
            <a:endParaRPr lang="en-US" sz="1200" dirty="0"/>
          </a:p>
        </p:txBody>
      </p:sp>
      <p:sp>
        <p:nvSpPr>
          <p:cNvPr id="20" name="Card"/>
          <p:cNvSpPr/>
          <p:nvPr/>
        </p:nvSpPr>
        <p:spPr>
          <a:xfrm>
            <a:off x="320040" y="1143000"/>
            <a:ext cx="2712720" cy="1850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Caption"/>
          <p:cNvSpPr/>
          <p:nvPr/>
        </p:nvSpPr>
        <p:spPr>
          <a:xfrm>
            <a:off x="420040" y="1243000"/>
            <a:ext cx="251272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Mission-Action Alignment by Gender</a:t>
            </a:r>
            <a:endParaRPr lang="en-US" sz="1100" dirty="0"/>
          </a:p>
        </p:txBody>
      </p:sp>
      <p:pic>
        <p:nvPicPr>
          <p:cNvPr id="22" name="Im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737" y="1583000"/>
            <a:ext cx="1469324" cy="1310000"/>
          </a:xfrm>
          <a:prstGeom prst="rect">
            <a:avLst/>
          </a:prstGeom>
        </p:spPr>
      </p:pic>
      <p:sp>
        <p:nvSpPr>
          <p:cNvPr id="23" name="Card"/>
          <p:cNvSpPr/>
          <p:nvPr/>
        </p:nvSpPr>
        <p:spPr>
          <a:xfrm>
            <a:off x="3215640" y="1143000"/>
            <a:ext cx="2712720" cy="1850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Caption"/>
          <p:cNvSpPr/>
          <p:nvPr/>
        </p:nvSpPr>
        <p:spPr>
          <a:xfrm>
            <a:off x="3315640" y="1243000"/>
            <a:ext cx="251272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Need for Clear Mission</a:t>
            </a:r>
            <a:endParaRPr lang="en-US" sz="1100" dirty="0"/>
          </a:p>
        </p:txBody>
      </p:sp>
      <p:pic>
        <p:nvPicPr>
          <p:cNvPr id="25" name="Im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5558" y="1583000"/>
            <a:ext cx="1852882" cy="1310000"/>
          </a:xfrm>
          <a:prstGeom prst="rect">
            <a:avLst/>
          </a:prstGeom>
        </p:spPr>
      </p:pic>
      <p:sp>
        <p:nvSpPr>
          <p:cNvPr id="26" name="Card"/>
          <p:cNvSpPr/>
          <p:nvPr/>
        </p:nvSpPr>
        <p:spPr>
          <a:xfrm>
            <a:off x="6111240" y="1143000"/>
            <a:ext cx="2712720" cy="1850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Caption"/>
          <p:cNvSpPr/>
          <p:nvPr/>
        </p:nvSpPr>
        <p:spPr>
          <a:xfrm>
            <a:off x="6211240" y="1243000"/>
            <a:ext cx="251272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Importance of Social Impact by Gender</a:t>
            </a:r>
            <a:endParaRPr lang="en-US" sz="1100" dirty="0"/>
          </a:p>
        </p:txBody>
      </p:sp>
      <p:pic>
        <p:nvPicPr>
          <p:cNvPr id="28" name="Im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1158" y="1583000"/>
            <a:ext cx="1852882" cy="1310000"/>
          </a:xfrm>
          <a:prstGeom prst="rect">
            <a:avLst/>
          </a:prstGeom>
        </p:spPr>
      </p:pic>
      <p:sp>
        <p:nvSpPr>
          <p:cNvPr id="29" name="Card"/>
          <p:cNvSpPr/>
          <p:nvPr/>
        </p:nvSpPr>
        <p:spPr>
          <a:xfrm>
            <a:off x="320040" y="3143000"/>
            <a:ext cx="2900000" cy="17490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Caption"/>
          <p:cNvSpPr/>
          <p:nvPr/>
        </p:nvSpPr>
        <p:spPr>
          <a:xfrm>
            <a:off x="420040" y="3243000"/>
            <a:ext cx="270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Higher Education Aspiration</a:t>
            </a:r>
            <a:endParaRPr lang="en-US" sz="1100" dirty="0"/>
          </a:p>
        </p:txBody>
      </p:sp>
      <p:pic>
        <p:nvPicPr>
          <p:cNvPr id="31" name="Im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117" y="3583000"/>
            <a:ext cx="2059845" cy="1209040"/>
          </a:xfrm>
          <a:prstGeom prst="rect">
            <a:avLst/>
          </a:prstGeom>
        </p:spPr>
      </p:pic>
      <p:sp>
        <p:nvSpPr>
          <p:cNvPr id="32" name="Card"/>
          <p:cNvSpPr/>
          <p:nvPr/>
        </p:nvSpPr>
        <p:spPr>
          <a:xfrm>
            <a:off x="3402920" y="3143000"/>
            <a:ext cx="5421040" cy="17490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Caption"/>
          <p:cNvSpPr/>
          <p:nvPr/>
        </p:nvSpPr>
        <p:spPr>
          <a:xfrm>
            <a:off x="3502920" y="3243000"/>
            <a:ext cx="522104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5 Career Aspiration</a:t>
            </a:r>
            <a:endParaRPr lang="en-US" sz="1100" dirty="0"/>
          </a:p>
        </p:txBody>
      </p:sp>
      <p:pic>
        <p:nvPicPr>
          <p:cNvPr id="34" name="Im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77490" y="3583000"/>
            <a:ext cx="3671899" cy="120904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4173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 from the Project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5321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tells us about Gen-Z career aspirations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307592"/>
            <a:ext cx="265176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47218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💼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51560" y="149047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Preferences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84632" y="1993392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Creative Strategy and Data Analysis are the top career choices for Indian Gen-Z.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0" y="1307592"/>
            <a:ext cx="265176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37560" y="147218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👨‍👩‍👧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931920" y="149047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Influence is #1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64992" y="1993392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 are the biggest influencer in career decisions, above social media and celebrities.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80760" y="1307592"/>
            <a:ext cx="265176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17920" y="147218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🏠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812280" y="149047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Work Wins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45352" y="1993392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46% prefer hybrid work. Fully remote and office-only are both less preferred.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" y="3136392"/>
            <a:ext cx="265176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7200" y="330098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💰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051560" y="331927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Salary Expectations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4632" y="3822192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~30% expect over ₹50k in just 3 years of experience, showing a strong ROI mindset.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00400" y="3136392"/>
            <a:ext cx="265176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337560" y="330098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931920" y="331927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Matters (but Actions More)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364992" y="3822192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 feel company actions don't match their stated missions — trust deficit is real.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080760" y="3136392"/>
            <a:ext cx="265176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217920" y="330098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🤝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812280" y="331927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Supportive Managers are Key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45352" y="3822192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Gen-Z overwhelmingly prefers supportive, goal-oriented managers over results-driven ones.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4020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 for Employers &amp; HR Teams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5626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steps based on Gen-Z career aspiration data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850392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89304"/>
            <a:ext cx="384048" cy="384048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89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05840" y="12344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Hybrid Work Arrangements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931920" y="1289304"/>
            <a:ext cx="0" cy="347472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0" y="1234440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Flexibility is non-negotiable for Gen-Z. Offer hybrid models with at least 15 days from home.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1892808"/>
            <a:ext cx="850392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039112"/>
            <a:ext cx="384048" cy="384048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039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05840" y="198424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Supportive Managers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931920" y="2039112"/>
            <a:ext cx="0" cy="347472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0" y="1984248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managers to be goal-oriented and supportive. Avoid micromanagement and unrealistic targets.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2642616"/>
            <a:ext cx="850392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2788920"/>
            <a:ext cx="384048" cy="384048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788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05840" y="273405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Transparent About Salaries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931920" y="2788920"/>
            <a:ext cx="0" cy="347472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0" y="2734056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Clearly outline salary growth paths. Gen-Z expects over ₹50k in 3 years and &gt;₹151k in 5 years.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" y="3392424"/>
            <a:ext cx="850392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3538728"/>
            <a:ext cx="384048" cy="384048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538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05840" y="3483864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Actions with Mission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931920" y="3538728"/>
            <a:ext cx="0" cy="347472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0" y="3483864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 distrust companies whose actions don't match stated values. Walk the talk publicly.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0040" y="4142232"/>
            <a:ext cx="850392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7200" y="4288536"/>
            <a:ext cx="384048" cy="384048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2885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005840" y="423367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Growth Opportunities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931920" y="4288536"/>
            <a:ext cx="0" cy="347472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14800" y="4233672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clear promotion paths, cross-functional projects, and skill development programs.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Career Aspirations of Gen-Z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0" y="2926080"/>
            <a:ext cx="3657600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1546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Jayati Singh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1352</Words>
  <Application>Microsoft Office PowerPoint</Application>
  <PresentationFormat>On-screen Show (16:9)</PresentationFormat>
  <Paragraphs>249</Paragraphs>
  <Slides>22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Understanding Career Aspirations of Gen Z</dc:title>
  <dc:subject>PptxGenJS Presentation</dc:subject>
  <dc:creator>Jayati Singh</dc:creator>
  <cp:lastModifiedBy>Jayati Singh</cp:lastModifiedBy>
  <cp:revision>2</cp:revision>
  <dcterms:created xsi:type="dcterms:W3CDTF">2026-06-24T10:37:09Z</dcterms:created>
  <dcterms:modified xsi:type="dcterms:W3CDTF">2026-06-25T10:09:02Z</dcterms:modified>
</cp:coreProperties>
</file>